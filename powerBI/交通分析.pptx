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0005FB-7CAD-4923-A61B-8353E2D536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D350772-5377-44DE-04DA-FF29ED61B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2AE35E-A6A3-DA88-AD37-215EB6E9C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23361F0-8A0C-9A19-3B7C-2F1B90CC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16F7C3-9233-0658-6608-AE4493696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366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5ACF06-FEF0-65C3-76F7-5BAA99F5B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5946B-899B-E5B6-F22C-6984DF685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CD00E-1688-0356-46A1-C78FBED56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9AE5B5-0662-CC9C-CE6F-41DA1AB3D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86406AD-1348-DE2C-B3B0-58D070D05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3211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20897C-54FC-F182-F08E-75A76943A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6599F85-CE4E-D4B7-6FBA-D59D75637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BCDEF06-F048-908F-0154-10EEC89E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41F2463-2257-7F49-2F92-A8A7CA748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C4DEDF-BD89-3AE6-1201-6D3DB359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7411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A7095B-47A2-2269-9F57-7C9987168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8FFF5-400C-35EA-1F44-CEB31C9E61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65CB98B-1189-93B0-C4E0-6CA1F8F00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6D515BB-B07D-BD21-8DD9-B13FD06A9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BE2E9AA-7CF0-3FC0-4886-2E6000FDC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42C23A-D1DD-1465-5A57-655F7C253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984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8295FE-EB1D-5E08-1FEC-3D457C9EF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CC7BFB-6BF1-1BB4-47A0-E729190A5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9D96749-FC1A-0DDA-DFE4-DA8B67E83D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B87D9C2-F0DA-3F8C-7B50-6CECBDD79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23690C8-E8A6-D898-1164-4153663727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7FF1DB9-F4AA-3FD3-F1E6-BBDA61182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D2B8F71-4E50-9DDF-7810-DE96D3EA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549CAFA-3F4B-DA7E-AC0F-04E91D63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833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B9574C-265C-BB28-4478-8B8D258DC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05BF8D2-7E25-210C-C3C3-6C2B3253F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5A70DBF-B1A2-96E5-F01E-187F274B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62FA75C-6834-4941-AE04-72B12CBDC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8738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06234F1-3636-06F0-6F14-6718B03BA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A182D6B-824D-447E-55B5-B7200A1DA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393BCA-F418-C060-C86C-74C6B87EF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93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BFB84D-50FA-4758-CA45-62ABA0B18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4305CF-D4F2-4C4E-0E87-54F0975B87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245BABE-15E2-582D-0AE9-CDDF49BEF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9600D8-C9B4-4911-2F02-CE751934F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45C85F3-1678-EC39-0B42-B21778A4F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46C7D8D-2D9C-DF0F-D88D-7A212EDCF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409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562B80-B213-27D8-E09B-857C4B793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349D9B9-B341-9417-C316-E4D9D637F7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62D29AE-8063-41A1-CC65-D40EBF4AF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C8EC86D-655B-D45E-DF92-CFD32D64A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7610349-D03E-013C-79C0-8F4F2639C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2DA9E62-A6BA-0772-55ED-DD8E4510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833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869BD4-6DAF-1965-0409-1E15A080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A1DC021-EDE5-059B-D450-611D48B949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745DA89-E149-40FC-70DE-2A36C1E0E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10D57A3-F705-79DF-D039-5E265014B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6703F6-2E04-205C-EA25-E884E36F2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962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80BD5355-797D-721C-DA14-1C1739E3E9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772552-49D9-4278-D963-A85E9F0F95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DB2CD0-4999-4B56-D25B-BFBA8A030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699178C-5548-F20D-4129-8DAD62E55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4C14294-66D6-8E05-E61B-CB28AB55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356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425CEE85-4463-2612-E294-8271BE565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6B2EDBD-1E2E-3D00-0582-CAEF8552B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069C06-309C-3A1F-4632-8ADE8B13AD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D1FD48-737C-4D34-8003-3029F9765731}" type="datetimeFigureOut">
              <a:rPr lang="zh-TW" altLang="en-US" smtClean="0"/>
              <a:t>2026/4/13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27ED4B7-BD19-F814-C0FD-0A600320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8A6B69-2B10-0432-142C-8CEF01301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87280E-4A3C-4FC6-8205-50177F6B45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697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CC82723B-D27C-C03E-BBC3-C5A5BB3C66CD}"/>
              </a:ext>
            </a:extLst>
          </p:cNvPr>
          <p:cNvSpPr/>
          <p:nvPr/>
        </p:nvSpPr>
        <p:spPr>
          <a:xfrm>
            <a:off x="462843" y="13095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  <a:latin typeface="+mj-lt"/>
              </a:rPr>
              <a:t>資料來源層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7FF2D257-CCB7-8787-649C-FF83523FDE8D}"/>
              </a:ext>
            </a:extLst>
          </p:cNvPr>
          <p:cNvSpPr/>
          <p:nvPr/>
        </p:nvSpPr>
        <p:spPr>
          <a:xfrm>
            <a:off x="462843" y="3344334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邏輯處理層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4F8F47E-96A9-5B64-E495-E65A9DD0658F}"/>
              </a:ext>
            </a:extLst>
          </p:cNvPr>
          <p:cNvSpPr/>
          <p:nvPr/>
        </p:nvSpPr>
        <p:spPr>
          <a:xfrm>
            <a:off x="462844" y="5221111"/>
            <a:ext cx="3860799" cy="1298222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solidFill>
                  <a:srgbClr val="7030A0"/>
                </a:solidFill>
              </a:rPr>
              <a:t>展示交付層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C7C295-599B-A2E4-57AB-78592A0599B1}"/>
              </a:ext>
            </a:extLst>
          </p:cNvPr>
          <p:cNvSpPr/>
          <p:nvPr/>
        </p:nvSpPr>
        <p:spPr>
          <a:xfrm>
            <a:off x="462843" y="158044"/>
            <a:ext cx="10995379" cy="85795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scene3d>
            <a:camera prst="orthographicFront"/>
            <a:lightRig rig="threePt" dir="t"/>
          </a:scene3d>
          <a:sp3d>
            <a:bevelT prst="convex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4000" dirty="0">
                <a:solidFill>
                  <a:srgbClr val="92D050"/>
                </a:solidFill>
              </a:rPr>
              <a:t>系統架構圖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CD0ED0-8E11-8428-7A02-05B3B151D1FC}"/>
              </a:ext>
            </a:extLst>
          </p:cNvPr>
          <p:cNvSpPr/>
          <p:nvPr/>
        </p:nvSpPr>
        <p:spPr>
          <a:xfrm>
            <a:off x="4549422" y="13095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1B7A0BD-560E-16CC-0407-2809DCCEEAD4}"/>
              </a:ext>
            </a:extLst>
          </p:cNvPr>
          <p:cNvSpPr/>
          <p:nvPr/>
        </p:nvSpPr>
        <p:spPr>
          <a:xfrm>
            <a:off x="4549422" y="3344334"/>
            <a:ext cx="6908800" cy="1255889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D99E49-E306-7DAC-772D-7EBA34D98AE8}"/>
              </a:ext>
            </a:extLst>
          </p:cNvPr>
          <p:cNvSpPr/>
          <p:nvPr/>
        </p:nvSpPr>
        <p:spPr>
          <a:xfrm>
            <a:off x="4549422" y="5221111"/>
            <a:ext cx="6908800" cy="1298222"/>
          </a:xfrm>
          <a:prstGeom prst="rect">
            <a:avLst/>
          </a:prstGeom>
          <a:solidFill>
            <a:schemeClr val="bg1">
              <a:lumMod val="95000"/>
            </a:schemeClr>
          </a:solidFill>
          <a:scene3d>
            <a:camera prst="orthographicFront"/>
            <a:lightRig rig="threePt" dir="t"/>
          </a:scene3d>
          <a:sp3d>
            <a:bevelT w="139700" h="139700" prst="divot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: 圓角化對角角落 12">
            <a:extLst>
              <a:ext uri="{FF2B5EF4-FFF2-40B4-BE49-F238E27FC236}">
                <a16:creationId xmlns:a16="http://schemas.microsoft.com/office/drawing/2014/main" id="{4A40B8F7-7859-BF25-54A3-2F6FD4508264}"/>
              </a:ext>
            </a:extLst>
          </p:cNvPr>
          <p:cNvSpPr/>
          <p:nvPr/>
        </p:nvSpPr>
        <p:spPr>
          <a:xfrm>
            <a:off x="4888089" y="1614307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政府資料開放平台</a:t>
            </a:r>
          </a:p>
        </p:txBody>
      </p:sp>
      <p:sp>
        <p:nvSpPr>
          <p:cNvPr id="14" name="矩形: 圓角化對角角落 13">
            <a:extLst>
              <a:ext uri="{FF2B5EF4-FFF2-40B4-BE49-F238E27FC236}">
                <a16:creationId xmlns:a16="http://schemas.microsoft.com/office/drawing/2014/main" id="{68E0138C-930D-CC4B-8FD9-3B47D3C4CDD1}"/>
              </a:ext>
            </a:extLst>
          </p:cNvPr>
          <p:cNvSpPr/>
          <p:nvPr/>
        </p:nvSpPr>
        <p:spPr>
          <a:xfrm>
            <a:off x="7134573" y="161430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CSV </a:t>
            </a:r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檔案</a:t>
            </a:r>
          </a:p>
        </p:txBody>
      </p:sp>
      <p:sp>
        <p:nvSpPr>
          <p:cNvPr id="15" name="矩形: 圓角化對角角落 14">
            <a:extLst>
              <a:ext uri="{FF2B5EF4-FFF2-40B4-BE49-F238E27FC236}">
                <a16:creationId xmlns:a16="http://schemas.microsoft.com/office/drawing/2014/main" id="{B50730F0-F8F6-8251-4EED-2137C40EDA52}"/>
              </a:ext>
            </a:extLst>
          </p:cNvPr>
          <p:cNvSpPr/>
          <p:nvPr/>
        </p:nvSpPr>
        <p:spPr>
          <a:xfrm>
            <a:off x="9426220" y="161430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dirty="0">
                <a:solidFill>
                  <a:schemeClr val="accent5">
                    <a:lumMod val="75000"/>
                  </a:schemeClr>
                </a:solidFill>
              </a:rPr>
              <a:t>手動下載後上傳至 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</a:rPr>
              <a:t>GitHub Gist</a:t>
            </a:r>
            <a:endParaRPr lang="zh-TW" altLang="en-US" sz="1600" b="1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6" name="矩形: 圓角化對角角落 15">
            <a:extLst>
              <a:ext uri="{FF2B5EF4-FFF2-40B4-BE49-F238E27FC236}">
                <a16:creationId xmlns:a16="http://schemas.microsoft.com/office/drawing/2014/main" id="{DB2BC5D8-BA33-8F8B-EC1A-657E3B1D00EF}"/>
              </a:ext>
            </a:extLst>
          </p:cNvPr>
          <p:cNvSpPr/>
          <p:nvPr/>
        </p:nvSpPr>
        <p:spPr>
          <a:xfrm>
            <a:off x="4888089" y="3639255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400" dirty="0">
                <a:solidFill>
                  <a:schemeClr val="accent5">
                    <a:lumMod val="75000"/>
                  </a:schemeClr>
                </a:solidFill>
              </a:rPr>
              <a:t>Data Cleaning</a:t>
            </a:r>
            <a:endParaRPr lang="zh-TW" altLang="en-US" sz="2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7" name="矩形: 圓角化對角角落 16">
            <a:extLst>
              <a:ext uri="{FF2B5EF4-FFF2-40B4-BE49-F238E27FC236}">
                <a16:creationId xmlns:a16="http://schemas.microsoft.com/office/drawing/2014/main" id="{6B92D47B-A41C-2122-8BCA-77E89FE1953A}"/>
              </a:ext>
            </a:extLst>
          </p:cNvPr>
          <p:cNvSpPr/>
          <p:nvPr/>
        </p:nvSpPr>
        <p:spPr>
          <a:xfrm>
            <a:off x="7169854" y="3639252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</a:rPr>
              <a:t>Transformation</a:t>
            </a:r>
            <a:endParaRPr lang="zh-TW" alt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8" name="矩形: 圓角化對角角落 17">
            <a:extLst>
              <a:ext uri="{FF2B5EF4-FFF2-40B4-BE49-F238E27FC236}">
                <a16:creationId xmlns:a16="http://schemas.microsoft.com/office/drawing/2014/main" id="{47B805C1-A664-2AAD-537C-712EE974CE1B}"/>
              </a:ext>
            </a:extLst>
          </p:cNvPr>
          <p:cNvSpPr/>
          <p:nvPr/>
        </p:nvSpPr>
        <p:spPr>
          <a:xfrm>
            <a:off x="9426220" y="3639253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Optimization</a:t>
            </a:r>
            <a:endParaRPr lang="zh-TW" altLang="en-US" sz="20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9" name="矩形: 圓角化對角角落 18">
            <a:extLst>
              <a:ext uri="{FF2B5EF4-FFF2-40B4-BE49-F238E27FC236}">
                <a16:creationId xmlns:a16="http://schemas.microsoft.com/office/drawing/2014/main" id="{654985D4-DAC2-F07B-89AD-170EF32975A2}"/>
              </a:ext>
            </a:extLst>
          </p:cNvPr>
          <p:cNvSpPr/>
          <p:nvPr/>
        </p:nvSpPr>
        <p:spPr>
          <a:xfrm>
            <a:off x="4888089" y="5537199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>
                <a:solidFill>
                  <a:schemeClr val="accent5">
                    <a:lumMod val="75000"/>
                  </a:schemeClr>
                </a:solidFill>
              </a:rPr>
              <a:t>互動篩選</a:t>
            </a:r>
          </a:p>
        </p:txBody>
      </p:sp>
      <p:sp>
        <p:nvSpPr>
          <p:cNvPr id="20" name="矩形: 圓角化對角角落 19">
            <a:extLst>
              <a:ext uri="{FF2B5EF4-FFF2-40B4-BE49-F238E27FC236}">
                <a16:creationId xmlns:a16="http://schemas.microsoft.com/office/drawing/2014/main" id="{149F1995-F6F4-7A82-5D01-5BF4400656C6}"/>
              </a:ext>
            </a:extLst>
          </p:cNvPr>
          <p:cNvSpPr/>
          <p:nvPr/>
        </p:nvSpPr>
        <p:spPr>
          <a:xfrm>
            <a:off x="7145863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地理視覺化</a:t>
            </a:r>
          </a:p>
        </p:txBody>
      </p:sp>
      <p:sp>
        <p:nvSpPr>
          <p:cNvPr id="21" name="矩形: 圓角化對角角落 20">
            <a:extLst>
              <a:ext uri="{FF2B5EF4-FFF2-40B4-BE49-F238E27FC236}">
                <a16:creationId xmlns:a16="http://schemas.microsoft.com/office/drawing/2014/main" id="{0278F00D-BB01-3CA7-04A6-B43133349D48}"/>
              </a:ext>
            </a:extLst>
          </p:cNvPr>
          <p:cNvSpPr/>
          <p:nvPr/>
        </p:nvSpPr>
        <p:spPr>
          <a:xfrm>
            <a:off x="9426220" y="5537196"/>
            <a:ext cx="1727200" cy="666045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dirty="0">
                <a:solidFill>
                  <a:schemeClr val="accent5">
                    <a:lumMod val="75000"/>
                  </a:schemeClr>
                </a:solidFill>
              </a:rPr>
              <a:t>數據儀表板</a:t>
            </a: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486A0A3-20B6-B231-959A-3B1B7874F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1662990"/>
            <a:ext cx="568677" cy="568677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FB48E295-1005-E18A-0B3F-54C79244C0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668" y="3592209"/>
            <a:ext cx="802471" cy="802471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B6365A48-0709-6693-50BF-FC51898A4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463" y="5445475"/>
            <a:ext cx="304802" cy="30480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0A3131AC-85E4-2526-D1DD-98DF6E2C72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6564" y="5887153"/>
            <a:ext cx="547914" cy="547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09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C4B519-5D01-1F35-497B-DE5A6DE8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資料來源層的補充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6C93FB-4A40-8344-A323-CC236A90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核心數據</a:t>
            </a:r>
            <a:r>
              <a:rPr lang="zh-TW" altLang="en-US" dirty="0"/>
              <a:t>：處理 </a:t>
            </a:r>
            <a:r>
              <a:rPr lang="en-US" altLang="zh-TW" dirty="0"/>
              <a:t>112 </a:t>
            </a:r>
            <a:r>
              <a:rPr lang="zh-TW" altLang="en-US" dirty="0"/>
              <a:t>年 </a:t>
            </a:r>
            <a:r>
              <a:rPr lang="en-US" altLang="zh-TW" dirty="0"/>
              <a:t>A1 </a:t>
            </a:r>
            <a:r>
              <a:rPr lang="zh-TW" altLang="en-US" dirty="0"/>
              <a:t>類道路交通事故原始資料 。</a:t>
            </a:r>
            <a:endParaRPr lang="en-US" altLang="zh-TW" dirty="0"/>
          </a:p>
          <a:p>
            <a:endParaRPr lang="en-US" altLang="zh-TW" b="1" dirty="0"/>
          </a:p>
          <a:p>
            <a:r>
              <a:rPr lang="zh-TW" altLang="en-US" b="1" dirty="0"/>
              <a:t>技術策略</a:t>
            </a:r>
            <a:r>
              <a:rPr lang="zh-TW" altLang="en-US" dirty="0"/>
              <a:t>：透過手動下載 </a:t>
            </a:r>
            <a:r>
              <a:rPr lang="en-US" altLang="zh-TW" dirty="0"/>
              <a:t>CSV </a:t>
            </a:r>
            <a:r>
              <a:rPr lang="zh-TW" altLang="en-US" dirty="0"/>
              <a:t>檔案 並上傳至 </a:t>
            </a:r>
            <a:r>
              <a:rPr lang="en-US" altLang="zh-TW" b="1" dirty="0"/>
              <a:t>GitHub Gist</a:t>
            </a:r>
            <a:r>
              <a:rPr lang="zh-TW" altLang="en-US" dirty="0"/>
              <a:t> 。這不僅是為了存放，更是將其定位為「雲端數據中台」 ，確保 </a:t>
            </a:r>
            <a:r>
              <a:rPr lang="en-US" altLang="zh-TW" dirty="0" err="1"/>
              <a:t>Streamlit</a:t>
            </a:r>
            <a:r>
              <a:rPr lang="en-US" altLang="zh-TW" dirty="0"/>
              <a:t> Cloud </a:t>
            </a:r>
            <a:r>
              <a:rPr lang="zh-TW" altLang="en-US" dirty="0"/>
              <a:t>能突破本地環境限制，實現 </a:t>
            </a:r>
            <a:r>
              <a:rPr lang="en-US" altLang="zh-TW" dirty="0"/>
              <a:t>24 </a:t>
            </a:r>
            <a:r>
              <a:rPr lang="zh-TW" altLang="en-US" dirty="0"/>
              <a:t>小時穩定的資料存取 。</a:t>
            </a:r>
          </a:p>
        </p:txBody>
      </p:sp>
    </p:spTree>
    <p:extLst>
      <p:ext uri="{BB962C8B-B14F-4D97-AF65-F5344CB8AC3E}">
        <p14:creationId xmlns:p14="http://schemas.microsoft.com/office/powerpoint/2010/main" val="149722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2CE597-1455-175D-9894-09802A401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邏輯處理層的補充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4EC6BD3-46F7-9F73-D7E1-2BC1CA90F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資料清洗 </a:t>
            </a:r>
            <a:r>
              <a:rPr lang="en-US" altLang="zh-TW" b="1" dirty="0"/>
              <a:t>(Data Cleaning)</a:t>
            </a:r>
            <a:r>
              <a:rPr lang="zh-TW" altLang="en-US" dirty="0"/>
              <a:t>：精確修正經緯度欄位的大小寫敏感問題（</a:t>
            </a:r>
            <a:r>
              <a:rPr lang="en-US" altLang="zh-TW" dirty="0"/>
              <a:t>Case Sensitivity</a:t>
            </a:r>
            <a:r>
              <a:rPr lang="zh-TW" altLang="en-US" dirty="0"/>
              <a:t>）並剔除無效空值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資料轉換 </a:t>
            </a:r>
            <a:r>
              <a:rPr lang="en-US" altLang="zh-TW" b="1" dirty="0"/>
              <a:t>(Transformation)</a:t>
            </a:r>
            <a:r>
              <a:rPr lang="zh-TW" altLang="en-US" dirty="0"/>
              <a:t>：將座標系統統一轉換為浮點數（</a:t>
            </a:r>
            <a:r>
              <a:rPr lang="en-US" altLang="zh-TW" dirty="0"/>
              <a:t>Float</a:t>
            </a:r>
            <a:r>
              <a:rPr lang="zh-TW" altLang="en-US" dirty="0"/>
              <a:t>）格式 ，這是確保地圖能精準渲染的關鍵技術步驟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效能優化 </a:t>
            </a:r>
            <a:r>
              <a:rPr lang="en-US" altLang="zh-TW" b="1" dirty="0"/>
              <a:t>(Optimization)</a:t>
            </a:r>
            <a:r>
              <a:rPr lang="zh-TW" altLang="en-US" dirty="0"/>
              <a:t>：導入 </a:t>
            </a:r>
            <a:r>
              <a:rPr lang="en-US" altLang="zh-TW" dirty="0" err="1"/>
              <a:t>st.cache_data</a:t>
            </a:r>
            <a:r>
              <a:rPr lang="zh-TW" altLang="en-US" dirty="0"/>
              <a:t> 快取機制 ，大幅減少重複讀取雲端資料的時間，優化使用者體驗 。</a:t>
            </a:r>
          </a:p>
        </p:txBody>
      </p:sp>
    </p:spTree>
    <p:extLst>
      <p:ext uri="{BB962C8B-B14F-4D97-AF65-F5344CB8AC3E}">
        <p14:creationId xmlns:p14="http://schemas.microsoft.com/office/powerpoint/2010/main" val="2436333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2E2529-3E47-F773-ED87-9EA9974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展示交付層的補充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2CB299-1E87-DD99-8ABD-117D49832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b="1" dirty="0"/>
              <a:t>多維度篩選</a:t>
            </a:r>
            <a:r>
              <a:rPr lang="zh-TW" altLang="en-US" dirty="0"/>
              <a:t>：使用者可透過側邊欄進行道路型態、年齡分組等互動式過濾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輕量化渲染</a:t>
            </a:r>
            <a:r>
              <a:rPr lang="zh-TW" altLang="en-US" dirty="0"/>
              <a:t>：捨棄高耗能組件，採用原生 </a:t>
            </a:r>
            <a:r>
              <a:rPr lang="en-US" altLang="zh-TW" dirty="0" err="1"/>
              <a:t>st.map</a:t>
            </a:r>
            <a:r>
              <a:rPr lang="zh-TW" altLang="en-US" dirty="0"/>
              <a:t> 引擎 ，確保在手機或慢速網路環境下仍能流暢讀取地理資訊 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決策儀表板</a:t>
            </a:r>
            <a:r>
              <a:rPr lang="zh-TW" altLang="en-US" dirty="0"/>
              <a:t>：即時運算 </a:t>
            </a:r>
            <a:r>
              <a:rPr lang="en-US" altLang="zh-TW" dirty="0"/>
              <a:t>KPI </a:t>
            </a:r>
            <a:r>
              <a:rPr lang="zh-TW" altLang="en-US" dirty="0"/>
              <a:t>指標 ，幫助決策者一眼掌握事故趨勢與主要肇事車種 。</a:t>
            </a:r>
          </a:p>
        </p:txBody>
      </p:sp>
    </p:spTree>
    <p:extLst>
      <p:ext uri="{BB962C8B-B14F-4D97-AF65-F5344CB8AC3E}">
        <p14:creationId xmlns:p14="http://schemas.microsoft.com/office/powerpoint/2010/main" val="390631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A885B1-A152-8C23-2D07-068B3108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成果展示</a:t>
            </a:r>
            <a:r>
              <a:rPr lang="en-US" altLang="zh-TW" dirty="0"/>
              <a:t>QR</a:t>
            </a:r>
            <a:r>
              <a:rPr lang="zh-TW" altLang="en-US" dirty="0"/>
              <a:t> </a:t>
            </a:r>
            <a:r>
              <a:rPr lang="en-US" altLang="zh-TW" dirty="0"/>
              <a:t>Code</a:t>
            </a:r>
            <a:endParaRPr lang="zh-TW" altLang="en-US" dirty="0"/>
          </a:p>
        </p:txBody>
      </p:sp>
      <p:pic>
        <p:nvPicPr>
          <p:cNvPr id="4" name="內容版面配置區 3">
            <a:extLst>
              <a:ext uri="{FF2B5EF4-FFF2-40B4-BE49-F238E27FC236}">
                <a16:creationId xmlns:a16="http://schemas.microsoft.com/office/drawing/2014/main" id="{687307A3-B3BA-B1B7-EBF8-C3F81D8D2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7262" y="3372556"/>
            <a:ext cx="1257475" cy="1257475"/>
          </a:xfr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7EC15253-BC32-4483-073F-CCAD3C817D51}"/>
              </a:ext>
            </a:extLst>
          </p:cNvPr>
          <p:cNvSpPr txBox="1"/>
          <p:nvPr/>
        </p:nvSpPr>
        <p:spPr>
          <a:xfrm>
            <a:off x="3807176" y="2162290"/>
            <a:ext cx="4577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112 </a:t>
            </a:r>
            <a:r>
              <a:rPr lang="zh-TW" altLang="en-US" dirty="0"/>
              <a:t>年交通事故互動分析系統</a:t>
            </a:r>
          </a:p>
        </p:txBody>
      </p:sp>
    </p:spTree>
    <p:extLst>
      <p:ext uri="{BB962C8B-B14F-4D97-AF65-F5344CB8AC3E}">
        <p14:creationId xmlns:p14="http://schemas.microsoft.com/office/powerpoint/2010/main" val="942878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05EE79-A6AE-4244-A796-FD16D7B07B0C}">
  <we:reference id="wa104051163" version="1.2.0.3" store="zh-TW" storeType="OMEX"/>
  <we:alternateReferences>
    <we:reference id="wa104051163" version="1.2.0.3" store="wa1040511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294</Words>
  <Application>Microsoft Office PowerPoint</Application>
  <PresentationFormat>寬螢幕</PresentationFormat>
  <Paragraphs>31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佈景主題</vt:lpstr>
      <vt:lpstr>PowerPoint 簡報</vt:lpstr>
      <vt:lpstr>資料來源層的補充</vt:lpstr>
      <vt:lpstr>邏輯處理層的補充</vt:lpstr>
      <vt:lpstr>展示交付層的補充</vt:lpstr>
      <vt:lpstr>成果展示QR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合汶 鄭</dc:creator>
  <cp:lastModifiedBy>合汶 鄭</cp:lastModifiedBy>
  <cp:revision>7</cp:revision>
  <dcterms:created xsi:type="dcterms:W3CDTF">2026-04-01T02:45:01Z</dcterms:created>
  <dcterms:modified xsi:type="dcterms:W3CDTF">2026-04-13T03:04:02Z</dcterms:modified>
</cp:coreProperties>
</file>