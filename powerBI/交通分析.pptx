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56" r:id="rId3"/>
    <p:sldId id="257" r:id="rId4"/>
    <p:sldId id="258" r:id="rId5"/>
    <p:sldId id="259" r:id="rId6"/>
    <p:sldId id="260" r:id="rId7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15" autoAdjust="0"/>
    <p:restoredTop sz="94660"/>
  </p:normalViewPr>
  <p:slideViewPr>
    <p:cSldViewPr snapToGrid="0">
      <p:cViewPr varScale="1">
        <p:scale>
          <a:sx n="67" d="100"/>
          <a:sy n="67" d="100"/>
        </p:scale>
        <p:origin x="9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00005FB-7CAD-4923-A61B-8353E2D536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7D350772-5377-44DE-04DA-FF29ED61B5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92AE35E-A6A3-DA88-AD37-215EB6E9C0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1FD48-737C-4D34-8003-3029F9765731}" type="datetimeFigureOut">
              <a:rPr lang="zh-TW" altLang="en-US" smtClean="0"/>
              <a:t>2026/4/23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23361F0-8A0C-9A19-3B7C-2F1B90CCEE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916F7C3-9233-0658-6608-AE4493696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7280E-4A3C-4FC6-8205-50177F6B45E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483667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D5ACF06-FEF0-65C3-76F7-5BAA99F5BD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4F5946B-899B-E5B6-F22C-6984DF685F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8FCD00E-1688-0356-46A1-C78FBED560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1FD48-737C-4D34-8003-3029F9765731}" type="datetimeFigureOut">
              <a:rPr lang="zh-TW" altLang="en-US" smtClean="0"/>
              <a:t>2026/4/23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D9AE5B5-0662-CC9C-CE6F-41DA1AB3DB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86406AD-1348-DE2C-B3B0-58D070D05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7280E-4A3C-4FC6-8205-50177F6B45E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432113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820897C-54FC-F182-F08E-75A76943A3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76599F85-CE4E-D4B7-6FBA-D59D75637F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BCDEF06-F048-908F-0154-10EEC89E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1FD48-737C-4D34-8003-3029F9765731}" type="datetimeFigureOut">
              <a:rPr lang="zh-TW" altLang="en-US" smtClean="0"/>
              <a:t>2026/4/23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41F2463-2257-7F49-2F92-A8A7CA748A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7C4DEDF-BD89-3AE6-1201-6D3DB3595B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7280E-4A3C-4FC6-8205-50177F6B45E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174113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2A7095B-47A2-2269-9F57-7C9987168D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298FFF5-400C-35EA-1F44-CEB31C9E61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A65CB98B-1189-93B0-C4E0-6CA1F8F00B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56D515BB-B07D-BD21-8DD9-B13FD06A9D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1FD48-737C-4D34-8003-3029F9765731}" type="datetimeFigureOut">
              <a:rPr lang="zh-TW" altLang="en-US" smtClean="0"/>
              <a:t>2026/4/23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6BE2E9AA-7CF0-3FC0-4886-2E6000FDC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F642C23A-D1DD-1465-5A57-655F7C253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7280E-4A3C-4FC6-8205-50177F6B45E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198429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D8295FE-EB1D-5E08-1FEC-3D457C9EFC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0CC7BFB-6BF1-1BB4-47A0-E729190A51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19D96749-FC1A-0DDA-DFE4-DA8B67E83D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8B87D9C2-F0DA-3F8C-7B50-6CECBDD79F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123690C8-E8A6-D898-1164-4153663727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67FF1DB9-F4AA-3FD3-F1E6-BBDA61182C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1FD48-737C-4D34-8003-3029F9765731}" type="datetimeFigureOut">
              <a:rPr lang="zh-TW" altLang="en-US" smtClean="0"/>
              <a:t>2026/4/23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FD2B8F71-4E50-9DDF-7810-DE96D3EAF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0549CAFA-3F4B-DA7E-AC0F-04E91D634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7280E-4A3C-4FC6-8205-50177F6B45E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058335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0B9574C-265C-BB28-4478-8B8D258DC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005BF8D2-7E25-210C-C3C3-6C2B3253F4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1FD48-737C-4D34-8003-3029F9765731}" type="datetimeFigureOut">
              <a:rPr lang="zh-TW" altLang="en-US" smtClean="0"/>
              <a:t>2026/4/23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05A70DBF-B1A2-96E5-F01E-187F274B6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362FA75C-6834-4941-AE04-72B12CBDC1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7280E-4A3C-4FC6-8205-50177F6B45E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787389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C06234F1-3636-06F0-6F14-6718B03BA0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1FD48-737C-4D34-8003-3029F9765731}" type="datetimeFigureOut">
              <a:rPr lang="zh-TW" altLang="en-US" smtClean="0"/>
              <a:t>2026/4/23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8A182D6B-824D-447E-55B5-B7200A1DA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0393BCA-F418-C060-C86C-74C6B87EF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7280E-4A3C-4FC6-8205-50177F6B45E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27931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1BFB84D-50FA-4758-CA45-62ABA0B181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24305CF-D4F2-4C4E-0E87-54F0975B87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A245BABE-15E2-582D-0AE9-CDDF49BEF4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79600D8-C9B4-4911-2F02-CE751934FE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1FD48-737C-4D34-8003-3029F9765731}" type="datetimeFigureOut">
              <a:rPr lang="zh-TW" altLang="en-US" smtClean="0"/>
              <a:t>2026/4/23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B45C85F3-1678-EC39-0B42-B21778A4F2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F46C7D8D-2D9C-DF0F-D88D-7A212EDCF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7280E-4A3C-4FC6-8205-50177F6B45E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940942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562B80-B213-27D8-E09B-857C4B7935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C349D9B9-B341-9417-C316-E4D9D637F7D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262D29AE-8063-41A1-CC65-D40EBF4AFE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FC8EC86D-655B-D45E-DF92-CFD32D64A9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1FD48-737C-4D34-8003-3029F9765731}" type="datetimeFigureOut">
              <a:rPr lang="zh-TW" altLang="en-US" smtClean="0"/>
              <a:t>2026/4/23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D7610349-D03E-013C-79C0-8F4F2639CD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B2DA9E62-A6BA-0772-55ED-DD8E45101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7280E-4A3C-4FC6-8205-50177F6B45E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348330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F869BD4-6DAF-1965-0409-1E15A0807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FA1DC021-EDE5-059B-D450-611D48B949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745DA89-E149-40FC-70DE-2A36C1E0E8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1FD48-737C-4D34-8003-3029F9765731}" type="datetimeFigureOut">
              <a:rPr lang="zh-TW" altLang="en-US" smtClean="0"/>
              <a:t>2026/4/23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10D57A3-F705-79DF-D039-5E265014B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56703F6-2E04-205C-EA25-E884E36F2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7280E-4A3C-4FC6-8205-50177F6B45E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349626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80BD5355-797D-721C-DA14-1C1739E3E9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56772552-49D9-4278-D963-A85E9F0F95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7DB2CD0-4999-4B56-D25B-BFBA8A030A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1FD48-737C-4D34-8003-3029F9765731}" type="datetimeFigureOut">
              <a:rPr lang="zh-TW" altLang="en-US" smtClean="0"/>
              <a:t>2026/4/23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699178C-5548-F20D-4129-8DAD62E55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4C14294-66D6-8E05-E61B-CB28AB556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7280E-4A3C-4FC6-8205-50177F6B45E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023563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425CEE85-4463-2612-E294-8271BE5654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6B2EDBD-1E2E-3D00-0582-CAEF8552BF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C069C06-309C-3A1F-4632-8ADE8B13AD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D1FD48-737C-4D34-8003-3029F9765731}" type="datetimeFigureOut">
              <a:rPr lang="zh-TW" altLang="en-US" smtClean="0"/>
              <a:t>2026/4/23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27ED4B7-BD19-F814-C0FD-0A600320AD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88A6B69-2B10-0432-142C-8CEF013013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87280E-4A3C-4FC6-8205-50177F6B45E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676976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48DE711-1E65-B149-388B-93A3D9D1B5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32075"/>
            <a:ext cx="10515600" cy="1325563"/>
          </a:xfrm>
        </p:spPr>
        <p:txBody>
          <a:bodyPr/>
          <a:lstStyle/>
          <a:p>
            <a:pPr algn="ctr"/>
            <a:r>
              <a:rPr lang="zh-TW" altLang="en-US" dirty="0"/>
              <a:t>主題</a:t>
            </a:r>
            <a:r>
              <a:rPr lang="en-US" altLang="zh-TW" dirty="0"/>
              <a:t>:</a:t>
            </a:r>
            <a:br>
              <a:rPr lang="en-US" altLang="zh-TW" dirty="0"/>
            </a:br>
            <a:r>
              <a:rPr lang="zh-TW" altLang="en-US" dirty="0"/>
              <a:t> 道路型態與高齡族群之事故關聯性研究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B601156-1CE0-9D24-2266-BBC759F9B0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682331"/>
            <a:ext cx="10515600" cy="4351338"/>
          </a:xfrm>
        </p:spPr>
        <p:txBody>
          <a:bodyPr>
            <a:normAutofit/>
          </a:bodyPr>
          <a:lstStyle/>
          <a:p>
            <a:pPr algn="ctr"/>
            <a:r>
              <a:rPr lang="zh-TW" altLang="en-US" dirty="0"/>
              <a:t>製作人</a:t>
            </a:r>
            <a:r>
              <a:rPr lang="en-US" altLang="zh-TW" dirty="0"/>
              <a:t>:</a:t>
            </a:r>
            <a:r>
              <a:rPr lang="zh-TW" altLang="en-US" dirty="0"/>
              <a:t>鄭合汶</a:t>
            </a:r>
          </a:p>
        </p:txBody>
      </p:sp>
    </p:spTree>
    <p:extLst>
      <p:ext uri="{BB962C8B-B14F-4D97-AF65-F5344CB8AC3E}">
        <p14:creationId xmlns:p14="http://schemas.microsoft.com/office/powerpoint/2010/main" val="3632980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圓角 3">
            <a:extLst>
              <a:ext uri="{FF2B5EF4-FFF2-40B4-BE49-F238E27FC236}">
                <a16:creationId xmlns:a16="http://schemas.microsoft.com/office/drawing/2014/main" id="{CC82723B-D27C-C03E-BBC3-C5A5BB3C66CD}"/>
              </a:ext>
            </a:extLst>
          </p:cNvPr>
          <p:cNvSpPr/>
          <p:nvPr/>
        </p:nvSpPr>
        <p:spPr>
          <a:xfrm>
            <a:off x="462843" y="1309511"/>
            <a:ext cx="3860799" cy="1298222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3200" dirty="0">
                <a:solidFill>
                  <a:srgbClr val="7030A0"/>
                </a:solidFill>
                <a:latin typeface="+mj-lt"/>
              </a:rPr>
              <a:t>資料來源層</a:t>
            </a: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7FF2D257-CCB7-8787-649C-FF83523FDE8D}"/>
              </a:ext>
            </a:extLst>
          </p:cNvPr>
          <p:cNvSpPr/>
          <p:nvPr/>
        </p:nvSpPr>
        <p:spPr>
          <a:xfrm>
            <a:off x="462843" y="3344334"/>
            <a:ext cx="3860799" cy="1298222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3200" dirty="0">
                <a:solidFill>
                  <a:srgbClr val="7030A0"/>
                </a:solidFill>
              </a:rPr>
              <a:t>邏輯處理層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74F8F47E-96A9-5B64-E495-E65A9DD0658F}"/>
              </a:ext>
            </a:extLst>
          </p:cNvPr>
          <p:cNvSpPr/>
          <p:nvPr/>
        </p:nvSpPr>
        <p:spPr>
          <a:xfrm>
            <a:off x="462844" y="5221111"/>
            <a:ext cx="3860799" cy="1298222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3200" dirty="0">
                <a:solidFill>
                  <a:srgbClr val="7030A0"/>
                </a:solidFill>
              </a:rPr>
              <a:t>展示交付層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FC7C295-599B-A2E4-57AB-78592A0599B1}"/>
              </a:ext>
            </a:extLst>
          </p:cNvPr>
          <p:cNvSpPr/>
          <p:nvPr/>
        </p:nvSpPr>
        <p:spPr>
          <a:xfrm>
            <a:off x="462843" y="158044"/>
            <a:ext cx="10995379" cy="85795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scene3d>
            <a:camera prst="orthographicFront"/>
            <a:lightRig rig="threePt" dir="t"/>
          </a:scene3d>
          <a:sp3d>
            <a:bevelT prst="convex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4000" dirty="0">
                <a:solidFill>
                  <a:srgbClr val="92D050"/>
                </a:solidFill>
              </a:rPr>
              <a:t>系統架構圖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CCD0ED0-8E11-8428-7A02-05B3B151D1FC}"/>
              </a:ext>
            </a:extLst>
          </p:cNvPr>
          <p:cNvSpPr/>
          <p:nvPr/>
        </p:nvSpPr>
        <p:spPr>
          <a:xfrm>
            <a:off x="4549422" y="1309511"/>
            <a:ext cx="6908800" cy="1298222"/>
          </a:xfrm>
          <a:prstGeom prst="rect">
            <a:avLst/>
          </a:prstGeom>
          <a:solidFill>
            <a:schemeClr val="bg1">
              <a:lumMod val="95000"/>
            </a:schemeClr>
          </a:solidFill>
          <a:scene3d>
            <a:camera prst="orthographicFront"/>
            <a:lightRig rig="threePt" dir="t"/>
          </a:scene3d>
          <a:sp3d>
            <a:bevelT w="139700" h="139700" prst="divo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1B7A0BD-560E-16CC-0407-2809DCCEEAD4}"/>
              </a:ext>
            </a:extLst>
          </p:cNvPr>
          <p:cNvSpPr/>
          <p:nvPr/>
        </p:nvSpPr>
        <p:spPr>
          <a:xfrm>
            <a:off x="4549422" y="3344334"/>
            <a:ext cx="6908800" cy="1255889"/>
          </a:xfrm>
          <a:prstGeom prst="rect">
            <a:avLst/>
          </a:prstGeom>
          <a:solidFill>
            <a:schemeClr val="bg1">
              <a:lumMod val="95000"/>
            </a:schemeClr>
          </a:solidFill>
          <a:scene3d>
            <a:camera prst="orthographicFront"/>
            <a:lightRig rig="threePt" dir="t"/>
          </a:scene3d>
          <a:sp3d>
            <a:bevelT w="139700" h="139700" prst="divo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8D99E49-E306-7DAC-772D-7EBA34D98AE8}"/>
              </a:ext>
            </a:extLst>
          </p:cNvPr>
          <p:cNvSpPr/>
          <p:nvPr/>
        </p:nvSpPr>
        <p:spPr>
          <a:xfrm>
            <a:off x="4549422" y="5221111"/>
            <a:ext cx="6908800" cy="1298222"/>
          </a:xfrm>
          <a:prstGeom prst="rect">
            <a:avLst/>
          </a:prstGeom>
          <a:solidFill>
            <a:schemeClr val="bg1">
              <a:lumMod val="95000"/>
            </a:schemeClr>
          </a:solidFill>
          <a:scene3d>
            <a:camera prst="orthographicFront"/>
            <a:lightRig rig="threePt" dir="t"/>
          </a:scene3d>
          <a:sp3d>
            <a:bevelT w="139700" h="139700" prst="divo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矩形: 圓角化對角角落 12">
            <a:extLst>
              <a:ext uri="{FF2B5EF4-FFF2-40B4-BE49-F238E27FC236}">
                <a16:creationId xmlns:a16="http://schemas.microsoft.com/office/drawing/2014/main" id="{4A40B8F7-7859-BF25-54A3-2F6FD4508264}"/>
              </a:ext>
            </a:extLst>
          </p:cNvPr>
          <p:cNvSpPr/>
          <p:nvPr/>
        </p:nvSpPr>
        <p:spPr>
          <a:xfrm>
            <a:off x="4888089" y="1614307"/>
            <a:ext cx="1727200" cy="666045"/>
          </a:xfrm>
          <a:prstGeom prst="round2Diag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dirty="0">
                <a:solidFill>
                  <a:schemeClr val="accent5">
                    <a:lumMod val="75000"/>
                  </a:schemeClr>
                </a:solidFill>
              </a:rPr>
              <a:t>政府資料開放平台</a:t>
            </a:r>
          </a:p>
        </p:txBody>
      </p:sp>
      <p:sp>
        <p:nvSpPr>
          <p:cNvPr id="14" name="矩形: 圓角化對角角落 13">
            <a:extLst>
              <a:ext uri="{FF2B5EF4-FFF2-40B4-BE49-F238E27FC236}">
                <a16:creationId xmlns:a16="http://schemas.microsoft.com/office/drawing/2014/main" id="{68E0138C-930D-CC4B-8FD9-3B47D3C4CDD1}"/>
              </a:ext>
            </a:extLst>
          </p:cNvPr>
          <p:cNvSpPr/>
          <p:nvPr/>
        </p:nvSpPr>
        <p:spPr>
          <a:xfrm>
            <a:off x="7134573" y="1614305"/>
            <a:ext cx="1727200" cy="666045"/>
          </a:xfrm>
          <a:prstGeom prst="round2Diag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>
                <a:solidFill>
                  <a:schemeClr val="accent5">
                    <a:lumMod val="75000"/>
                  </a:schemeClr>
                </a:solidFill>
              </a:rPr>
              <a:t>CSV </a:t>
            </a:r>
            <a:r>
              <a:rPr lang="zh-TW" altLang="en-US" sz="2400" dirty="0">
                <a:solidFill>
                  <a:schemeClr val="accent5">
                    <a:lumMod val="75000"/>
                  </a:schemeClr>
                </a:solidFill>
              </a:rPr>
              <a:t>檔案</a:t>
            </a:r>
          </a:p>
        </p:txBody>
      </p:sp>
      <p:sp>
        <p:nvSpPr>
          <p:cNvPr id="15" name="矩形: 圓角化對角角落 14">
            <a:extLst>
              <a:ext uri="{FF2B5EF4-FFF2-40B4-BE49-F238E27FC236}">
                <a16:creationId xmlns:a16="http://schemas.microsoft.com/office/drawing/2014/main" id="{B50730F0-F8F6-8251-4EED-2137C40EDA52}"/>
              </a:ext>
            </a:extLst>
          </p:cNvPr>
          <p:cNvSpPr/>
          <p:nvPr/>
        </p:nvSpPr>
        <p:spPr>
          <a:xfrm>
            <a:off x="9426220" y="1614309"/>
            <a:ext cx="1727200" cy="666045"/>
          </a:xfrm>
          <a:prstGeom prst="round2Diag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>
                <a:solidFill>
                  <a:schemeClr val="accent5">
                    <a:lumMod val="75000"/>
                  </a:schemeClr>
                </a:solidFill>
              </a:rPr>
              <a:t>手動下載後上傳至 </a:t>
            </a:r>
            <a:r>
              <a:rPr lang="en-US" altLang="zh-TW" sz="1600" b="1" dirty="0">
                <a:solidFill>
                  <a:schemeClr val="accent5">
                    <a:lumMod val="75000"/>
                  </a:schemeClr>
                </a:solidFill>
              </a:rPr>
              <a:t>GitHub Gist</a:t>
            </a:r>
            <a:endParaRPr lang="zh-TW" altLang="en-US" sz="16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6" name="矩形: 圓角化對角角落 15">
            <a:extLst>
              <a:ext uri="{FF2B5EF4-FFF2-40B4-BE49-F238E27FC236}">
                <a16:creationId xmlns:a16="http://schemas.microsoft.com/office/drawing/2014/main" id="{DB2BC5D8-BA33-8F8B-EC1A-657E3B1D00EF}"/>
              </a:ext>
            </a:extLst>
          </p:cNvPr>
          <p:cNvSpPr/>
          <p:nvPr/>
        </p:nvSpPr>
        <p:spPr>
          <a:xfrm>
            <a:off x="4888089" y="3639255"/>
            <a:ext cx="1727200" cy="666045"/>
          </a:xfrm>
          <a:prstGeom prst="round2Diag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>
                <a:solidFill>
                  <a:schemeClr val="accent5">
                    <a:lumMod val="75000"/>
                  </a:schemeClr>
                </a:solidFill>
              </a:rPr>
              <a:t>Data Cleaning</a:t>
            </a:r>
            <a:endParaRPr lang="zh-TW" altLang="en-US" sz="24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7" name="矩形: 圓角化對角角落 16">
            <a:extLst>
              <a:ext uri="{FF2B5EF4-FFF2-40B4-BE49-F238E27FC236}">
                <a16:creationId xmlns:a16="http://schemas.microsoft.com/office/drawing/2014/main" id="{6B92D47B-A41C-2122-8BCA-77E89FE1953A}"/>
              </a:ext>
            </a:extLst>
          </p:cNvPr>
          <p:cNvSpPr/>
          <p:nvPr/>
        </p:nvSpPr>
        <p:spPr>
          <a:xfrm>
            <a:off x="7169854" y="3639252"/>
            <a:ext cx="1727200" cy="666045"/>
          </a:xfrm>
          <a:prstGeom prst="round2Diag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accent5">
                    <a:lumMod val="75000"/>
                  </a:schemeClr>
                </a:solidFill>
              </a:rPr>
              <a:t>Transformation</a:t>
            </a:r>
            <a:endParaRPr lang="zh-TW" altLang="en-US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8" name="矩形: 圓角化對角角落 17">
            <a:extLst>
              <a:ext uri="{FF2B5EF4-FFF2-40B4-BE49-F238E27FC236}">
                <a16:creationId xmlns:a16="http://schemas.microsoft.com/office/drawing/2014/main" id="{47B805C1-A664-2AAD-537C-712EE974CE1B}"/>
              </a:ext>
            </a:extLst>
          </p:cNvPr>
          <p:cNvSpPr/>
          <p:nvPr/>
        </p:nvSpPr>
        <p:spPr>
          <a:xfrm>
            <a:off x="9426220" y="3639253"/>
            <a:ext cx="1727200" cy="666045"/>
          </a:xfrm>
          <a:prstGeom prst="round2Diag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dirty="0">
                <a:solidFill>
                  <a:schemeClr val="accent5">
                    <a:lumMod val="75000"/>
                  </a:schemeClr>
                </a:solidFill>
              </a:rPr>
              <a:t>Optimization</a:t>
            </a:r>
            <a:endParaRPr lang="zh-TW" altLang="en-US" sz="20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9" name="矩形: 圓角化對角角落 18">
            <a:extLst>
              <a:ext uri="{FF2B5EF4-FFF2-40B4-BE49-F238E27FC236}">
                <a16:creationId xmlns:a16="http://schemas.microsoft.com/office/drawing/2014/main" id="{654985D4-DAC2-F07B-89AD-170EF32975A2}"/>
              </a:ext>
            </a:extLst>
          </p:cNvPr>
          <p:cNvSpPr/>
          <p:nvPr/>
        </p:nvSpPr>
        <p:spPr>
          <a:xfrm>
            <a:off x="4888089" y="5537199"/>
            <a:ext cx="1727200" cy="666045"/>
          </a:xfrm>
          <a:prstGeom prst="round2Diag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400" dirty="0">
                <a:solidFill>
                  <a:schemeClr val="accent5">
                    <a:lumMod val="75000"/>
                  </a:schemeClr>
                </a:solidFill>
              </a:rPr>
              <a:t>互動篩選</a:t>
            </a:r>
          </a:p>
        </p:txBody>
      </p:sp>
      <p:sp>
        <p:nvSpPr>
          <p:cNvPr id="20" name="矩形: 圓角化對角角落 19">
            <a:extLst>
              <a:ext uri="{FF2B5EF4-FFF2-40B4-BE49-F238E27FC236}">
                <a16:creationId xmlns:a16="http://schemas.microsoft.com/office/drawing/2014/main" id="{149F1995-F6F4-7A82-5D01-5BF4400656C6}"/>
              </a:ext>
            </a:extLst>
          </p:cNvPr>
          <p:cNvSpPr/>
          <p:nvPr/>
        </p:nvSpPr>
        <p:spPr>
          <a:xfrm>
            <a:off x="7145863" y="5537196"/>
            <a:ext cx="1727200" cy="666045"/>
          </a:xfrm>
          <a:prstGeom prst="round2Diag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dirty="0">
                <a:solidFill>
                  <a:schemeClr val="accent5">
                    <a:lumMod val="75000"/>
                  </a:schemeClr>
                </a:solidFill>
              </a:rPr>
              <a:t>地理視覺化</a:t>
            </a:r>
          </a:p>
        </p:txBody>
      </p:sp>
      <p:sp>
        <p:nvSpPr>
          <p:cNvPr id="21" name="矩形: 圓角化對角角落 20">
            <a:extLst>
              <a:ext uri="{FF2B5EF4-FFF2-40B4-BE49-F238E27FC236}">
                <a16:creationId xmlns:a16="http://schemas.microsoft.com/office/drawing/2014/main" id="{0278F00D-BB01-3CA7-04A6-B43133349D48}"/>
              </a:ext>
            </a:extLst>
          </p:cNvPr>
          <p:cNvSpPr/>
          <p:nvPr/>
        </p:nvSpPr>
        <p:spPr>
          <a:xfrm>
            <a:off x="9426220" y="5537196"/>
            <a:ext cx="1727200" cy="666045"/>
          </a:xfrm>
          <a:prstGeom prst="round2Diag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dirty="0">
                <a:solidFill>
                  <a:schemeClr val="accent5">
                    <a:lumMod val="75000"/>
                  </a:schemeClr>
                </a:solidFill>
              </a:rPr>
              <a:t>數據儀表板</a:t>
            </a:r>
          </a:p>
        </p:txBody>
      </p:sp>
      <p:pic>
        <p:nvPicPr>
          <p:cNvPr id="23" name="圖片 22">
            <a:extLst>
              <a:ext uri="{FF2B5EF4-FFF2-40B4-BE49-F238E27FC236}">
                <a16:creationId xmlns:a16="http://schemas.microsoft.com/office/drawing/2014/main" id="{D486A0A3-20B6-B231-959A-3B1B7874FB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6564" y="1662990"/>
            <a:ext cx="568677" cy="568677"/>
          </a:xfrm>
          <a:prstGeom prst="rect">
            <a:avLst/>
          </a:prstGeom>
        </p:spPr>
      </p:pic>
      <p:pic>
        <p:nvPicPr>
          <p:cNvPr id="25" name="圖片 24">
            <a:extLst>
              <a:ext uri="{FF2B5EF4-FFF2-40B4-BE49-F238E27FC236}">
                <a16:creationId xmlns:a16="http://schemas.microsoft.com/office/drawing/2014/main" id="{FB48E295-1005-E18A-0B3F-54C79244C0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9668" y="3592209"/>
            <a:ext cx="802471" cy="802471"/>
          </a:xfrm>
          <a:prstGeom prst="rect">
            <a:avLst/>
          </a:prstGeom>
        </p:spPr>
      </p:pic>
      <p:pic>
        <p:nvPicPr>
          <p:cNvPr id="27" name="圖片 26">
            <a:extLst>
              <a:ext uri="{FF2B5EF4-FFF2-40B4-BE49-F238E27FC236}">
                <a16:creationId xmlns:a16="http://schemas.microsoft.com/office/drawing/2014/main" id="{B6365A48-0709-6693-50BF-FC51898A471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1463" y="5445475"/>
            <a:ext cx="304802" cy="304802"/>
          </a:xfrm>
          <a:prstGeom prst="rect">
            <a:avLst/>
          </a:prstGeom>
        </p:spPr>
      </p:pic>
      <p:pic>
        <p:nvPicPr>
          <p:cNvPr id="29" name="圖片 28">
            <a:extLst>
              <a:ext uri="{FF2B5EF4-FFF2-40B4-BE49-F238E27FC236}">
                <a16:creationId xmlns:a16="http://schemas.microsoft.com/office/drawing/2014/main" id="{0A3131AC-85E4-2526-D1DD-98DF6E2C725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6564" y="5887153"/>
            <a:ext cx="547914" cy="547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40995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0C4B519-5D01-1F35-497B-DE5A6DE8B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TW" altLang="en-US" dirty="0"/>
              <a:t>資料來源層的補充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66C93FB-4A40-8344-A323-CC236A909F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b="1" dirty="0"/>
              <a:t>核心數據</a:t>
            </a:r>
            <a:r>
              <a:rPr lang="zh-TW" altLang="en-US" dirty="0"/>
              <a:t>：處理 </a:t>
            </a:r>
            <a:r>
              <a:rPr lang="en-US" altLang="zh-TW" dirty="0"/>
              <a:t>112 </a:t>
            </a:r>
            <a:r>
              <a:rPr lang="zh-TW" altLang="en-US" dirty="0"/>
              <a:t>年 </a:t>
            </a:r>
            <a:r>
              <a:rPr lang="en-US" altLang="zh-TW" dirty="0"/>
              <a:t>A1 </a:t>
            </a:r>
            <a:r>
              <a:rPr lang="zh-TW" altLang="en-US" dirty="0"/>
              <a:t>類道路交通事故原始資料 。</a:t>
            </a:r>
            <a:endParaRPr lang="en-US" altLang="zh-TW" dirty="0"/>
          </a:p>
          <a:p>
            <a:endParaRPr lang="en-US" altLang="zh-TW" b="1" dirty="0"/>
          </a:p>
          <a:p>
            <a:r>
              <a:rPr lang="zh-TW" altLang="en-US" b="1" dirty="0"/>
              <a:t>技術策略</a:t>
            </a:r>
            <a:r>
              <a:rPr lang="zh-TW" altLang="en-US" dirty="0"/>
              <a:t>：透過手動下載 </a:t>
            </a:r>
            <a:r>
              <a:rPr lang="en-US" altLang="zh-TW" dirty="0"/>
              <a:t>CSV </a:t>
            </a:r>
            <a:r>
              <a:rPr lang="zh-TW" altLang="en-US" dirty="0"/>
              <a:t>檔案 並上傳至 </a:t>
            </a:r>
            <a:r>
              <a:rPr lang="en-US" altLang="zh-TW" b="1" dirty="0"/>
              <a:t>GitHub Gist</a:t>
            </a:r>
            <a:r>
              <a:rPr lang="zh-TW" altLang="en-US" dirty="0"/>
              <a:t> 。這不僅是為了存放，更是將其定位為「雲端數據中台」 ，確保 </a:t>
            </a:r>
            <a:r>
              <a:rPr lang="en-US" altLang="zh-TW" dirty="0" err="1"/>
              <a:t>Streamlit</a:t>
            </a:r>
            <a:r>
              <a:rPr lang="en-US" altLang="zh-TW" dirty="0"/>
              <a:t> Cloud </a:t>
            </a:r>
            <a:r>
              <a:rPr lang="zh-TW" altLang="en-US" dirty="0"/>
              <a:t>能突破本地環境限制，實現 </a:t>
            </a:r>
            <a:r>
              <a:rPr lang="en-US" altLang="zh-TW" dirty="0"/>
              <a:t>24 </a:t>
            </a:r>
            <a:r>
              <a:rPr lang="zh-TW" altLang="en-US" dirty="0"/>
              <a:t>小時穩定的資料存取 。</a:t>
            </a:r>
          </a:p>
        </p:txBody>
      </p:sp>
    </p:spTree>
    <p:extLst>
      <p:ext uri="{BB962C8B-B14F-4D97-AF65-F5344CB8AC3E}">
        <p14:creationId xmlns:p14="http://schemas.microsoft.com/office/powerpoint/2010/main" val="14972211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C2CE597-1455-175D-9894-09802A4010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TW" altLang="en-US" dirty="0"/>
              <a:t>邏輯處理層的補充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4EC6BD3-46F7-9F73-D7E1-2BC1CA90F7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b="1" dirty="0"/>
              <a:t>資料清洗 </a:t>
            </a:r>
            <a:r>
              <a:rPr lang="en-US" altLang="zh-TW" b="1" dirty="0"/>
              <a:t>(Data Cleaning)</a:t>
            </a:r>
            <a:r>
              <a:rPr lang="zh-TW" altLang="en-US" dirty="0"/>
              <a:t>：精確修正經緯度欄位的大小寫敏感問題（</a:t>
            </a:r>
            <a:r>
              <a:rPr lang="en-US" altLang="zh-TW" dirty="0"/>
              <a:t>Case Sensitivity</a:t>
            </a:r>
            <a:r>
              <a:rPr lang="zh-TW" altLang="en-US" dirty="0"/>
              <a:t>）並剔除無效空值 。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b="1" dirty="0"/>
              <a:t>資料轉換 </a:t>
            </a:r>
            <a:r>
              <a:rPr lang="en-US" altLang="zh-TW" b="1" dirty="0"/>
              <a:t>(Transformation)</a:t>
            </a:r>
            <a:r>
              <a:rPr lang="zh-TW" altLang="en-US" dirty="0"/>
              <a:t>：將座標系統統一轉換為浮點數（</a:t>
            </a:r>
            <a:r>
              <a:rPr lang="en-US" altLang="zh-TW" dirty="0"/>
              <a:t>Float</a:t>
            </a:r>
            <a:r>
              <a:rPr lang="zh-TW" altLang="en-US" dirty="0"/>
              <a:t>）格式 ，這是確保地圖能精準渲染的關鍵技術步驟 。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b="1" dirty="0"/>
              <a:t>效能優化 </a:t>
            </a:r>
            <a:r>
              <a:rPr lang="en-US" altLang="zh-TW" b="1" dirty="0"/>
              <a:t>(Optimization)</a:t>
            </a:r>
            <a:r>
              <a:rPr lang="zh-TW" altLang="en-US" dirty="0"/>
              <a:t>：導入 </a:t>
            </a:r>
            <a:r>
              <a:rPr lang="en-US" altLang="zh-TW" dirty="0" err="1"/>
              <a:t>st.cache_data</a:t>
            </a:r>
            <a:r>
              <a:rPr lang="zh-TW" altLang="en-US" dirty="0"/>
              <a:t> 快取機制 ，大幅減少重複讀取雲端資料的時間，優化使用者體驗 。</a:t>
            </a:r>
          </a:p>
        </p:txBody>
      </p:sp>
    </p:spTree>
    <p:extLst>
      <p:ext uri="{BB962C8B-B14F-4D97-AF65-F5344CB8AC3E}">
        <p14:creationId xmlns:p14="http://schemas.microsoft.com/office/powerpoint/2010/main" val="24363335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D2E2529-3E47-F773-ED87-9EA99749D8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TW" altLang="en-US" dirty="0"/>
              <a:t>展示交付層的補充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B2CB299-1E87-DD99-8ABD-117D498326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b="1" dirty="0"/>
              <a:t>多維度篩選</a:t>
            </a:r>
            <a:r>
              <a:rPr lang="zh-TW" altLang="en-US" dirty="0"/>
              <a:t>：使用者可透過側邊欄進行道路型態、年齡分組等互動式過濾 。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b="1" dirty="0"/>
              <a:t>輕量化渲染</a:t>
            </a:r>
            <a:r>
              <a:rPr lang="zh-TW" altLang="en-US" dirty="0"/>
              <a:t>：捨棄高耗能組件，採用原生 </a:t>
            </a:r>
            <a:r>
              <a:rPr lang="en-US" altLang="zh-TW" dirty="0" err="1"/>
              <a:t>st.map</a:t>
            </a:r>
            <a:r>
              <a:rPr lang="zh-TW" altLang="en-US" dirty="0"/>
              <a:t> 引擎 ，確保在手機或慢速網路環境下仍能流暢讀取地理資訊 。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b="1" dirty="0"/>
              <a:t>決策儀表板</a:t>
            </a:r>
            <a:r>
              <a:rPr lang="zh-TW" altLang="en-US" dirty="0"/>
              <a:t>：即時運算 </a:t>
            </a:r>
            <a:r>
              <a:rPr lang="en-US" altLang="zh-TW" dirty="0"/>
              <a:t>KPI </a:t>
            </a:r>
            <a:r>
              <a:rPr lang="zh-TW" altLang="en-US" dirty="0"/>
              <a:t>指標 ，幫助決策者一眼掌握事故趨勢與主要肇事車種 。</a:t>
            </a:r>
          </a:p>
        </p:txBody>
      </p:sp>
    </p:spTree>
    <p:extLst>
      <p:ext uri="{BB962C8B-B14F-4D97-AF65-F5344CB8AC3E}">
        <p14:creationId xmlns:p14="http://schemas.microsoft.com/office/powerpoint/2010/main" val="39063166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1A885B1-A152-8C23-2D07-068B3108C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TW" altLang="en-US" dirty="0"/>
              <a:t>成果展示</a:t>
            </a:r>
            <a:r>
              <a:rPr lang="en-US" altLang="zh-TW" dirty="0"/>
              <a:t>QR</a:t>
            </a:r>
            <a:r>
              <a:rPr lang="zh-TW" altLang="en-US" dirty="0"/>
              <a:t> </a:t>
            </a:r>
            <a:r>
              <a:rPr lang="en-US" altLang="zh-TW" dirty="0"/>
              <a:t>Code</a:t>
            </a:r>
            <a:endParaRPr lang="zh-TW" altLang="en-US" dirty="0"/>
          </a:p>
        </p:txBody>
      </p:sp>
      <p:pic>
        <p:nvPicPr>
          <p:cNvPr id="4" name="內容版面配置區 3">
            <a:extLst>
              <a:ext uri="{FF2B5EF4-FFF2-40B4-BE49-F238E27FC236}">
                <a16:creationId xmlns:a16="http://schemas.microsoft.com/office/drawing/2014/main" id="{687307A3-B3BA-B1B7-EBF8-C3F81D8D2F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67262" y="3372556"/>
            <a:ext cx="1257475" cy="1257475"/>
          </a:xfr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7EC15253-BC32-4483-073F-CCAD3C817D51}"/>
              </a:ext>
            </a:extLst>
          </p:cNvPr>
          <p:cNvSpPr txBox="1"/>
          <p:nvPr/>
        </p:nvSpPr>
        <p:spPr>
          <a:xfrm>
            <a:off x="3807176" y="2162290"/>
            <a:ext cx="45776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/>
              <a:t>112 </a:t>
            </a:r>
            <a:r>
              <a:rPr lang="zh-TW" altLang="en-US" dirty="0"/>
              <a:t>年交通事故互動分析系統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347E723B-001A-9CB1-AE26-417827A7C561}"/>
              </a:ext>
            </a:extLst>
          </p:cNvPr>
          <p:cNvSpPr txBox="1"/>
          <p:nvPr/>
        </p:nvSpPr>
        <p:spPr>
          <a:xfrm>
            <a:off x="3081335" y="5470965"/>
            <a:ext cx="6029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https://transportation-ez2r9cqej2mjfhrdecxp2g.streamlit.app/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9428781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1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E505EE79-A6AE-4244-A796-FD16D7B07B0C}">
  <we:reference id="wa104051163" version="1.2.0.3" store="zh-TW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114</TotalTime>
  <Words>321</Words>
  <Application>Microsoft Office PowerPoint</Application>
  <PresentationFormat>寬螢幕</PresentationFormat>
  <Paragraphs>34</Paragraphs>
  <Slides>6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佈景主題</vt:lpstr>
      <vt:lpstr>主題:  道路型態與高齡族群之事故關聯性研究</vt:lpstr>
      <vt:lpstr>PowerPoint 簡報</vt:lpstr>
      <vt:lpstr>資料來源層的補充</vt:lpstr>
      <vt:lpstr>邏輯處理層的補充</vt:lpstr>
      <vt:lpstr>展示交付層的補充</vt:lpstr>
      <vt:lpstr>成果展示QR Code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合汶 鄭</dc:creator>
  <cp:lastModifiedBy>合汶 鄭</cp:lastModifiedBy>
  <cp:revision>9</cp:revision>
  <dcterms:created xsi:type="dcterms:W3CDTF">2026-04-01T02:45:01Z</dcterms:created>
  <dcterms:modified xsi:type="dcterms:W3CDTF">2026-04-23T01:39:55Z</dcterms:modified>
</cp:coreProperties>
</file>